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PT Serif" panose="020F0502020204030204" pitchFamily="18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7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784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3.jp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.jp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jp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118265" y="2417267"/>
            <a:ext cx="7334845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Student Dropout Prediction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6118265" y="3480108"/>
            <a:ext cx="730758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Predicting and Preventing Student Dropouts Efficiently</a:t>
            </a:r>
            <a:endParaRPr lang="en-US" sz="2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EE1FFFD-0437-2333-E02A-27BE656EE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9171" y="7087790"/>
            <a:ext cx="3421229" cy="10858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377DE9-6275-1CB2-3A05-751EBC4B00F5}"/>
              </a:ext>
            </a:extLst>
          </p:cNvPr>
          <p:cNvSpPr txBox="1"/>
          <p:nvPr/>
        </p:nvSpPr>
        <p:spPr>
          <a:xfrm>
            <a:off x="6118265" y="4247495"/>
            <a:ext cx="333053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G.MAHATHI – 2320090024</a:t>
            </a:r>
          </a:p>
          <a:p>
            <a:r>
              <a:rPr lang="en-US" dirty="0"/>
              <a:t>Y.SRI VATSAV – 2320030112</a:t>
            </a:r>
          </a:p>
          <a:p>
            <a:r>
              <a:rPr lang="en-US" dirty="0"/>
              <a:t>M.SREE VATHSAV – 2320030078</a:t>
            </a:r>
          </a:p>
          <a:p>
            <a:r>
              <a:rPr lang="en-US" dirty="0"/>
              <a:t>A.RAHUL – 2320030479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4871"/>
            <a:ext cx="929520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Importance of Early Prediction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466148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 retention is a critical challenge facing higher education institutions worldwide. Early identification of at-risk students enables timely interventions that can dramatically improve outcomes.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758928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 leveraging data science and machine learning, institutions can move from reactive to proactive support, reducing dropout rates whilst enhancing student success and institutional performance.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214443"/>
            <a:ext cx="4885015" cy="48850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0904FF-8981-4CB6-DC8D-9A50733E0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9171" y="7151845"/>
            <a:ext cx="3421229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35198"/>
            <a:ext cx="9059108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Understanding the Dropout Problem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744260" y="1731526"/>
            <a:ext cx="6471285" cy="2390061"/>
          </a:xfrm>
          <a:prstGeom prst="roundRect">
            <a:avLst>
              <a:gd name="adj" fmla="val 1335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956905" y="1944172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E04F0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2284" y="2119551"/>
            <a:ext cx="287060" cy="287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6905" y="2781419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Academic Challenges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956905" y="3249811"/>
            <a:ext cx="604599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Poor grades, course failures, and difficulty adapting to university-level work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7414855" y="1731526"/>
            <a:ext cx="6471285" cy="2390061"/>
          </a:xfrm>
          <a:prstGeom prst="roundRect">
            <a:avLst>
              <a:gd name="adj" fmla="val 1335"/>
            </a:avLst>
          </a:prstGeom>
          <a:solidFill>
            <a:srgbClr val="F2EEEE"/>
          </a:solidFill>
          <a:ln/>
        </p:spPr>
      </p:sp>
      <p:sp>
        <p:nvSpPr>
          <p:cNvPr id="9" name="Shape 6"/>
          <p:cNvSpPr/>
          <p:nvPr/>
        </p:nvSpPr>
        <p:spPr>
          <a:xfrm>
            <a:off x="7627501" y="1944172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E04F0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02880" y="2119551"/>
            <a:ext cx="287060" cy="2870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27501" y="2781419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Financial Pressure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7627501" y="3249811"/>
            <a:ext cx="604599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Economic hardship, student debt, and competing work commitments</a:t>
            </a:r>
            <a:endParaRPr lang="en-US" sz="1650" dirty="0"/>
          </a:p>
        </p:txBody>
      </p:sp>
      <p:sp>
        <p:nvSpPr>
          <p:cNvPr id="13" name="Shape 9"/>
          <p:cNvSpPr/>
          <p:nvPr/>
        </p:nvSpPr>
        <p:spPr>
          <a:xfrm>
            <a:off x="744260" y="4320897"/>
            <a:ext cx="6471285" cy="2390061"/>
          </a:xfrm>
          <a:prstGeom prst="roundRect">
            <a:avLst>
              <a:gd name="adj" fmla="val 1335"/>
            </a:avLst>
          </a:prstGeom>
          <a:solidFill>
            <a:srgbClr val="F2EEEE"/>
          </a:solidFill>
          <a:ln/>
        </p:spPr>
      </p:sp>
      <p:sp>
        <p:nvSpPr>
          <p:cNvPr id="14" name="Shape 10"/>
          <p:cNvSpPr/>
          <p:nvPr/>
        </p:nvSpPr>
        <p:spPr>
          <a:xfrm>
            <a:off x="956905" y="4533543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E04F0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2284" y="4708922"/>
            <a:ext cx="287060" cy="2870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56905" y="5370790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Social Factors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956905" y="5839182"/>
            <a:ext cx="604599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Lack of community, isolation, and difficulty integrating into campus life</a:t>
            </a:r>
            <a:endParaRPr lang="en-US" sz="1650" dirty="0"/>
          </a:p>
        </p:txBody>
      </p:sp>
      <p:sp>
        <p:nvSpPr>
          <p:cNvPr id="18" name="Shape 13"/>
          <p:cNvSpPr/>
          <p:nvPr/>
        </p:nvSpPr>
        <p:spPr>
          <a:xfrm>
            <a:off x="7414855" y="4320897"/>
            <a:ext cx="6471285" cy="2390061"/>
          </a:xfrm>
          <a:prstGeom prst="roundRect">
            <a:avLst>
              <a:gd name="adj" fmla="val 1335"/>
            </a:avLst>
          </a:prstGeom>
          <a:solidFill>
            <a:srgbClr val="F2EEEE"/>
          </a:solidFill>
          <a:ln/>
        </p:spPr>
      </p:sp>
      <p:sp>
        <p:nvSpPr>
          <p:cNvPr id="19" name="Shape 14"/>
          <p:cNvSpPr/>
          <p:nvPr/>
        </p:nvSpPr>
        <p:spPr>
          <a:xfrm>
            <a:off x="7627501" y="4533543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E04F0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02880" y="4708922"/>
            <a:ext cx="287060" cy="2870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27501" y="5370790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Wellbeing Issues</a:t>
            </a:r>
            <a:endParaRPr lang="en-US" sz="2150" dirty="0"/>
          </a:p>
        </p:txBody>
      </p:sp>
      <p:sp>
        <p:nvSpPr>
          <p:cNvPr id="22" name="Text 16"/>
          <p:cNvSpPr/>
          <p:nvPr/>
        </p:nvSpPr>
        <p:spPr>
          <a:xfrm>
            <a:off x="7627501" y="5839182"/>
            <a:ext cx="6045994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Mental health struggles, stress, and inadequate support systems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44260" y="6935153"/>
            <a:ext cx="1314188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Dropouts impact not only individual students but also institutional funding, reputation, and broader societal goals around educational attainment.</a:t>
            </a:r>
            <a:endParaRPr lang="en-US" sz="16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FF5B701-C4A7-1205-9D0E-D27A3ED024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09171" y="7314010"/>
            <a:ext cx="3421229" cy="9155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51" y="594241"/>
            <a:ext cx="5280779" cy="70411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05776" y="575786"/>
            <a:ext cx="6529864" cy="674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Collection Framework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205776" y="1529596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205776" y="1856065"/>
            <a:ext cx="7705249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7" name="Text 4"/>
          <p:cNvSpPr/>
          <p:nvPr/>
        </p:nvSpPr>
        <p:spPr>
          <a:xfrm>
            <a:off x="6205776" y="2004536"/>
            <a:ext cx="269795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Academic Records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205776" y="2453402"/>
            <a:ext cx="77052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Grades, course completion rates, GPA trends, and academic history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205776" y="3107174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05776" y="3433643"/>
            <a:ext cx="7705249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1" name="Text 8"/>
          <p:cNvSpPr/>
          <p:nvPr/>
        </p:nvSpPr>
        <p:spPr>
          <a:xfrm>
            <a:off x="6205776" y="3582114"/>
            <a:ext cx="269795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Attendance Data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205776" y="4030980"/>
            <a:ext cx="77052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 participation, lecture attendance, and engagement metrics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205776" y="4684752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05776" y="5011222"/>
            <a:ext cx="7705249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2"/>
          <p:cNvSpPr/>
          <p:nvPr/>
        </p:nvSpPr>
        <p:spPr>
          <a:xfrm>
            <a:off x="6205776" y="5159693"/>
            <a:ext cx="3407093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Socio-economic Background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205776" y="5618083"/>
            <a:ext cx="77052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 information, financial aid status, and family circumstances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05776" y="6262330"/>
            <a:ext cx="411123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05776" y="6588800"/>
            <a:ext cx="7705249" cy="2286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9" name="Text 16"/>
          <p:cNvSpPr/>
          <p:nvPr/>
        </p:nvSpPr>
        <p:spPr>
          <a:xfrm>
            <a:off x="6205776" y="6737271"/>
            <a:ext cx="2697956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Behavioral Indicators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6205776" y="7186136"/>
            <a:ext cx="7705249" cy="313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Library usage, online platform activity, and extracurricular involvement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7F2E918-AD85-9202-6DCE-EB8B646FEF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9171" y="7564636"/>
            <a:ext cx="3421229" cy="6649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6147"/>
            <a:ext cx="1062394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Machine Learning Models for Prediction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86738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Decision Trees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46626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Tree-based models that split data based on feature values, creating interpretable rules for classification. Excellent for understanding key factors.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81788"/>
            <a:ext cx="331220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Support Vector Machines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5380673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Powerful classifiers that find optimal boundaries between classes, effective for high-dimensional data with clear separation patterns.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86738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Neural Networks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599521" y="3466267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learning architectures that identify complex patterns through layered processing. Capture non-linear relationships between variables.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7817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Ensemble Methods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599521" y="5380673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Combining multiple models (Random Forest, Gradient Boosting) to improve accuracy and robustness through collective intelligence.</a:t>
            </a: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8E93C3-5204-E44D-325F-EEAD819E7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9171" y="7143750"/>
            <a:ext cx="3421229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3238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Predictive Factors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1664732" y="2825353"/>
            <a:ext cx="302775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Academic Performance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3333512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GPA, course grades, and academic progression patterns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31137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52874" y="3604617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341126"/>
            <a:ext cx="364367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Attendance &amp; Participation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9937790" y="284928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 presence, assignment submission, and engagement levels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31137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39169" y="3024188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1256" y="391525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Engagement Metrics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10051256" y="4423410"/>
            <a:ext cx="378535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Campus activities, peer interactions, and community involvement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31137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43117" y="4543782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37790" y="5852279"/>
            <a:ext cx="315777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Socio-economic Factors</a:t>
            </a:r>
            <a:endParaRPr lang="en-US" sz="2300" dirty="0"/>
          </a:p>
        </p:txBody>
      </p:sp>
      <p:sp>
        <p:nvSpPr>
          <p:cNvPr id="16" name="Text 8"/>
          <p:cNvSpPr/>
          <p:nvPr/>
        </p:nvSpPr>
        <p:spPr>
          <a:xfrm>
            <a:off x="9937790" y="636043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Financial status, work commitments, and family support systems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31137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39169" y="6063377"/>
            <a:ext cx="339328" cy="3393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469827" y="5367933"/>
            <a:ext cx="322266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Psychological Indicators</a:t>
            </a:r>
            <a:endParaRPr lang="en-US" sz="2300" dirty="0"/>
          </a:p>
        </p:txBody>
      </p:sp>
      <p:sp>
        <p:nvSpPr>
          <p:cNvPr id="20" name="Text 10"/>
          <p:cNvSpPr/>
          <p:nvPr/>
        </p:nvSpPr>
        <p:spPr>
          <a:xfrm>
            <a:off x="793790" y="5876092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Wellbeing assessments, stress levels, and mental health screenings</a:t>
            </a:r>
            <a:endParaRPr lang="en-US" sz="17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32653" y="2431137"/>
            <a:ext cx="4564975" cy="4564975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52874" y="5482947"/>
            <a:ext cx="339328" cy="33932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F080C78-7B00-F219-2179-A51A86787A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09171" y="7143750"/>
            <a:ext cx="3421229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6509" y="486847"/>
            <a:ext cx="5587246" cy="453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System Architecture and Workflow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5799" y="1108591"/>
            <a:ext cx="9458682" cy="40788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22229" y="4407227"/>
            <a:ext cx="2253172" cy="281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Predict &amp; Alert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3222229" y="3463040"/>
            <a:ext cx="2253172" cy="281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 Model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3222229" y="2528391"/>
            <a:ext cx="2253172" cy="281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Process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222229" y="1584205"/>
            <a:ext cx="2253172" cy="281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Collect Data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509" y="5282089"/>
            <a:ext cx="4768691" cy="5528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84621" y="5919073"/>
            <a:ext cx="181415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684621" y="6196370"/>
            <a:ext cx="4492466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Gather comprehensive student data from institutional systems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5282089"/>
            <a:ext cx="4768691" cy="55280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453312" y="5919073"/>
            <a:ext cx="181415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Data Processing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7453312" y="6196370"/>
            <a:ext cx="4492466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Clean, normalize, and transform data for analysis</a:t>
            </a:r>
            <a:endParaRPr lang="en-US" sz="10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6509" y="6512362"/>
            <a:ext cx="4768691" cy="55280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684621" y="7149346"/>
            <a:ext cx="181415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2684621" y="7426643"/>
            <a:ext cx="4492466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 ML algorithms on historical dropout patterns</a:t>
            </a:r>
            <a:endParaRPr lang="en-US" sz="10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6512362"/>
            <a:ext cx="4768691" cy="55280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453312" y="7149346"/>
            <a:ext cx="181415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Early Alerts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7453312" y="7426643"/>
            <a:ext cx="4492466" cy="177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risk scores and intervention recommendations</a:t>
            </a:r>
            <a:endParaRPr lang="en-US" sz="10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8F5DC-3FD3-EE23-51E0-55734C38925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09171" y="7081837"/>
            <a:ext cx="3421229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2603"/>
            <a:ext cx="1183421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Intervention Strategies and Support Systems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2360652"/>
            <a:ext cx="4196358" cy="2421136"/>
          </a:xfrm>
          <a:prstGeom prst="roundRect">
            <a:avLst>
              <a:gd name="adj" fmla="val 6043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330172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202049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2755761" y="219063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4" y="292762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Early Identification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051084" y="3435787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Screen students regularly using predictive scores to flag those requiring attention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360652"/>
            <a:ext cx="4196358" cy="2421136"/>
          </a:xfrm>
          <a:prstGeom prst="roundRect">
            <a:avLst>
              <a:gd name="adj" fmla="val 604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216962" y="2330172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0" y="202049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219063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2927628"/>
            <a:ext cx="315694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Personalized Mentoring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74256" y="3435787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Assign dedicated mentors to guide academic planning and career development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133" y="2360652"/>
            <a:ext cx="4196358" cy="2421136"/>
          </a:xfrm>
          <a:prstGeom prst="roundRect">
            <a:avLst>
              <a:gd name="adj" fmla="val 6043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0133" y="2330172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98032" y="2020491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2105" y="2190631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292762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Academic Support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897427" y="3435787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Provide tutoring, study skills workshops, and subject-specific assistance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93790" y="5348764"/>
            <a:ext cx="6407944" cy="2058233"/>
          </a:xfrm>
          <a:prstGeom prst="roundRect">
            <a:avLst>
              <a:gd name="adj" fmla="val 7108"/>
            </a:avLst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93790" y="5318284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540" y="500860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</p:sp>
      <p:sp>
        <p:nvSpPr>
          <p:cNvPr id="24" name="Text 22"/>
          <p:cNvSpPr/>
          <p:nvPr/>
        </p:nvSpPr>
        <p:spPr>
          <a:xfrm>
            <a:off x="3861614" y="517874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51084" y="591573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Counselling Services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1051084" y="6423898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Offer mental health support, financial advice, and wellbeing resources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428548" y="5348764"/>
            <a:ext cx="6407944" cy="2058233"/>
          </a:xfrm>
          <a:prstGeom prst="roundRect">
            <a:avLst>
              <a:gd name="adj" fmla="val 7108"/>
            </a:avLst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428548" y="5318284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92298" y="500860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E04F00"/>
          </a:solidFill>
          <a:ln/>
        </p:spPr>
      </p:sp>
      <p:sp>
        <p:nvSpPr>
          <p:cNvPr id="30" name="Text 28"/>
          <p:cNvSpPr/>
          <p:nvPr/>
        </p:nvSpPr>
        <p:spPr>
          <a:xfrm>
            <a:off x="10496371" y="517874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685842" y="5915739"/>
            <a:ext cx="311050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Continuous Monitoring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7685842" y="6423898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progress through dashboards and adjust interventions as needed</a:t>
            </a:r>
            <a:endParaRPr lang="en-US" sz="175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0E211800-1DE1-3007-9F97-8F4C1130D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9171" y="7149703"/>
            <a:ext cx="3421229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2831"/>
            <a:ext cx="692408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Stakeholder Collaboration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2055614" y="237982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Academic Staff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793790" y="2887980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concerns and provide course-specific support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940719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4585" y="3372683"/>
            <a:ext cx="318968" cy="318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97628" y="197108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Parents &amp; Families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9597628" y="2479238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Partner in student support and wellbeing monitoring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1940719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18797" y="2945606"/>
            <a:ext cx="318968" cy="3189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051256" y="3606165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Administrators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10051256" y="4123849"/>
            <a:ext cx="37853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Coordinate resources and policy implementation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1940719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31041" y="4063603"/>
            <a:ext cx="318968" cy="3189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597628" y="524125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Counsellors</a:t>
            </a:r>
            <a:endParaRPr lang="en-US" sz="2300" dirty="0"/>
          </a:p>
        </p:txBody>
      </p:sp>
      <p:sp>
        <p:nvSpPr>
          <p:cNvPr id="16" name="Text 8"/>
          <p:cNvSpPr/>
          <p:nvPr/>
        </p:nvSpPr>
        <p:spPr>
          <a:xfrm>
            <a:off x="9597628" y="5749409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 psychological and academic guidance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1940719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18797" y="5181600"/>
            <a:ext cx="318968" cy="31896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2055614" y="483239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Peer Networks</a:t>
            </a:r>
            <a:endParaRPr lang="en-US" sz="2300" dirty="0"/>
          </a:p>
        </p:txBody>
      </p:sp>
      <p:sp>
        <p:nvSpPr>
          <p:cNvPr id="20" name="Text 10"/>
          <p:cNvSpPr/>
          <p:nvPr/>
        </p:nvSpPr>
        <p:spPr>
          <a:xfrm>
            <a:off x="793790" y="5340548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community and peer mentoring programmes</a:t>
            </a:r>
            <a:endParaRPr lang="en-US" sz="17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32653" y="1940719"/>
            <a:ext cx="4564975" cy="4564975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04585" y="4754523"/>
            <a:ext cx="318968" cy="31896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793790" y="676084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Successful dropout prevention requires coordinated efforts across all stakeholders, with clear communication channels and shared accountability for student success.</a:t>
            </a:r>
            <a:endParaRPr lang="en-US" sz="17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1F38E5F-FF39-8CEA-B4A7-58F24685DD2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09171" y="7078265"/>
            <a:ext cx="3421229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489585"/>
            <a:ext cx="6142077" cy="569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Conclusion: The Path Forward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1323737" y="2582347"/>
            <a:ext cx="227933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Insights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323737" y="3000018"/>
            <a:ext cx="6399848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Machine learning enables early, accurate identification of at-risk students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data collection improves prediction reliability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Personalized interventions significantly reduce dropout rates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Ongoing monitoring ensures sustained student engagement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23737" y="4253270"/>
            <a:ext cx="227933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Future Directions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323737" y="4670941"/>
            <a:ext cx="6399848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Integration of real-time analytics, expanded predictive features including wellbeing metrics, and automated intervention systems will further enhance retention efforts.</a:t>
            </a:r>
            <a:endParaRPr lang="en-US" sz="13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829" y="1408390"/>
            <a:ext cx="5159216" cy="51592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323737" y="6866692"/>
            <a:ext cx="11982807" cy="873204"/>
          </a:xfrm>
          <a:prstGeom prst="roundRect">
            <a:avLst>
              <a:gd name="adj" fmla="val 2983"/>
            </a:avLst>
          </a:prstGeom>
          <a:solidFill>
            <a:srgbClr val="B6FCB8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7330" y="7114580"/>
            <a:ext cx="217051" cy="1735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87974" y="7042904"/>
            <a:ext cx="11244977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Combining data science with human-centered support systems creates the most effective approach to student retention and success.</a:t>
            </a:r>
            <a:endParaRPr lang="en-US" sz="13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887394-465D-A575-016C-9ADFB25B6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9171" y="7739896"/>
            <a:ext cx="3421229" cy="409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643</Words>
  <Application>Microsoft Office PowerPoint</Application>
  <PresentationFormat>Custom</PresentationFormat>
  <Paragraphs>112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PT Serif</vt:lpstr>
      <vt:lpstr>Arial</vt:lpstr>
      <vt:lpstr>PT Serif Light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Mahathi Gudibandi</dc:creator>
  <cp:lastModifiedBy>mahathi gudibandi</cp:lastModifiedBy>
  <cp:revision>2</cp:revision>
  <dcterms:created xsi:type="dcterms:W3CDTF">2026-04-28T12:45:50Z</dcterms:created>
  <dcterms:modified xsi:type="dcterms:W3CDTF">2026-04-28T12:53:09Z</dcterms:modified>
</cp:coreProperties>
</file>